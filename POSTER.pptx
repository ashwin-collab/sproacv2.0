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30264100" cy="42786300"/>
  <p:notesSz cx="6858000" cy="9144000"/>
  <p:embeddedFontLst>
    <p:embeddedFont>
      <p:font typeface="Bahnschrift" panose="020B0502040204020203" pitchFamily="34" charset="0"/>
      <p:regular r:id="rId3"/>
      <p:bold r:id="rId4"/>
    </p:embeddedFont>
    <p:embeddedFont>
      <p:font typeface="Canva Sans" panose="020B0604020202020204" charset="0"/>
      <p:regular r:id="rId5"/>
    </p:embeddedFont>
    <p:embeddedFont>
      <p:font typeface="Canva Sans Bold" panose="020B0604020202020204" charset="0"/>
      <p:regular r:id="rId6"/>
    </p:embeddedFont>
    <p:embeddedFont>
      <p:font typeface="Lilita One" panose="020B0604020202020204" charset="0"/>
      <p:regular r:id="rId7"/>
    </p:embeddedFont>
    <p:embeddedFont>
      <p:font typeface="Yeseva One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5" d="100"/>
          <a:sy n="25" d="100"/>
        </p:scale>
        <p:origin x="1445" y="-21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0266640" cy="42793920"/>
          </a:xfrm>
          <a:custGeom>
            <a:avLst/>
            <a:gdLst/>
            <a:ahLst/>
            <a:cxnLst/>
            <a:rect l="l" t="t" r="r" b="b"/>
            <a:pathLst>
              <a:path w="30266640" h="42793920">
                <a:moveTo>
                  <a:pt x="0" y="0"/>
                </a:moveTo>
                <a:lnTo>
                  <a:pt x="30266640" y="0"/>
                </a:lnTo>
                <a:lnTo>
                  <a:pt x="30266640" y="42793920"/>
                </a:lnTo>
                <a:lnTo>
                  <a:pt x="0" y="42793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7" t="-3345" r="-377" b="-334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059424" y="6287196"/>
            <a:ext cx="13547219" cy="16952313"/>
            <a:chOff x="0" y="0"/>
            <a:chExt cx="1212686" cy="15174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12686" cy="1517495"/>
            </a:xfrm>
            <a:custGeom>
              <a:avLst/>
              <a:gdLst/>
              <a:ahLst/>
              <a:cxnLst/>
              <a:rect l="l" t="t" r="r" b="b"/>
              <a:pathLst>
                <a:path w="1212686" h="1517495">
                  <a:moveTo>
                    <a:pt x="85150" y="0"/>
                  </a:moveTo>
                  <a:lnTo>
                    <a:pt x="1127536" y="0"/>
                  </a:lnTo>
                  <a:cubicBezTo>
                    <a:pt x="1150119" y="0"/>
                    <a:pt x="1171777" y="8971"/>
                    <a:pt x="1187746" y="24940"/>
                  </a:cubicBezTo>
                  <a:cubicBezTo>
                    <a:pt x="1203715" y="40909"/>
                    <a:pt x="1212686" y="62567"/>
                    <a:pt x="1212686" y="85150"/>
                  </a:cubicBezTo>
                  <a:lnTo>
                    <a:pt x="1212686" y="1432345"/>
                  </a:lnTo>
                  <a:cubicBezTo>
                    <a:pt x="1212686" y="1479372"/>
                    <a:pt x="1174563" y="1517495"/>
                    <a:pt x="1127536" y="1517495"/>
                  </a:cubicBezTo>
                  <a:lnTo>
                    <a:pt x="85150" y="1517495"/>
                  </a:lnTo>
                  <a:cubicBezTo>
                    <a:pt x="38123" y="1517495"/>
                    <a:pt x="0" y="1479372"/>
                    <a:pt x="0" y="1432345"/>
                  </a:cubicBezTo>
                  <a:lnTo>
                    <a:pt x="0" y="85150"/>
                  </a:lnTo>
                  <a:cubicBezTo>
                    <a:pt x="0" y="38123"/>
                    <a:pt x="38123" y="0"/>
                    <a:pt x="85150" y="0"/>
                  </a:cubicBezTo>
                  <a:close/>
                </a:path>
              </a:pathLst>
            </a:custGeom>
            <a:solidFill>
              <a:srgbClr val="AFC673">
                <a:alpha val="80000"/>
              </a:srgbClr>
            </a:solidFill>
            <a:ln w="66675" cap="rnd">
              <a:solidFill>
                <a:srgbClr val="000000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52400"/>
              <a:ext cx="1212686" cy="1669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22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-61136"/>
            <a:ext cx="30264100" cy="7261628"/>
            <a:chOff x="0" y="0"/>
            <a:chExt cx="2683475" cy="6350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83475" cy="628243"/>
            </a:xfrm>
            <a:custGeom>
              <a:avLst/>
              <a:gdLst/>
              <a:ahLst/>
              <a:cxnLst/>
              <a:rect l="l" t="t" r="r" b="b"/>
              <a:pathLst>
                <a:path w="2683475" h="628243">
                  <a:moveTo>
                    <a:pt x="2664349" y="0"/>
                  </a:moveTo>
                  <a:lnTo>
                    <a:pt x="19126" y="0"/>
                  </a:lnTo>
                  <a:cubicBezTo>
                    <a:pt x="8563" y="0"/>
                    <a:pt x="0" y="8563"/>
                    <a:pt x="0" y="19126"/>
                  </a:cubicBezTo>
                  <a:lnTo>
                    <a:pt x="0" y="569663"/>
                  </a:lnTo>
                  <a:cubicBezTo>
                    <a:pt x="142738" y="618992"/>
                    <a:pt x="599499" y="672146"/>
                    <a:pt x="1284640" y="569663"/>
                  </a:cubicBezTo>
                  <a:cubicBezTo>
                    <a:pt x="1969786" y="451269"/>
                    <a:pt x="2502675" y="520332"/>
                    <a:pt x="2683475" y="569663"/>
                  </a:cubicBezTo>
                  <a:lnTo>
                    <a:pt x="2683475" y="19126"/>
                  </a:lnTo>
                  <a:cubicBezTo>
                    <a:pt x="2683475" y="8563"/>
                    <a:pt x="2674912" y="0"/>
                    <a:pt x="2664349" y="0"/>
                  </a:cubicBezTo>
                  <a:close/>
                </a:path>
              </a:pathLst>
            </a:custGeom>
            <a:solidFill>
              <a:srgbClr val="AFC673">
                <a:alpha val="69804"/>
              </a:srgbClr>
            </a:solidFill>
            <a:ln w="95250" cap="rnd">
              <a:solidFill>
                <a:srgbClr val="000000">
                  <a:alpha val="69804"/>
                </a:srgbClr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52400"/>
              <a:ext cx="2683475" cy="651355"/>
            </a:xfrm>
            <a:prstGeom prst="rect">
              <a:avLst/>
            </a:prstGeom>
          </p:spPr>
          <p:txBody>
            <a:bodyPr lIns="40138" tIns="40138" rIns="40138" bIns="40138" rtlCol="0" anchor="ctr"/>
            <a:lstStyle/>
            <a:p>
              <a:pPr algn="ctr">
                <a:lnSpc>
                  <a:spcPts val="10221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299300" y="3607335"/>
            <a:ext cx="21668039" cy="1096263"/>
            <a:chOff x="0" y="0"/>
            <a:chExt cx="28890719" cy="1461684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28890719" cy="1461684"/>
              <a:chOff x="0" y="0"/>
              <a:chExt cx="6054679" cy="306328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054679" cy="306328"/>
              </a:xfrm>
              <a:custGeom>
                <a:avLst/>
                <a:gdLst/>
                <a:ahLst/>
                <a:cxnLst/>
                <a:rect l="l" t="t" r="r" b="b"/>
                <a:pathLst>
                  <a:path w="6054679" h="306328">
                    <a:moveTo>
                      <a:pt x="20656" y="0"/>
                    </a:moveTo>
                    <a:lnTo>
                      <a:pt x="6034023" y="0"/>
                    </a:lnTo>
                    <a:cubicBezTo>
                      <a:pt x="6039501" y="0"/>
                      <a:pt x="6044755" y="2176"/>
                      <a:pt x="6048629" y="6050"/>
                    </a:cubicBezTo>
                    <a:cubicBezTo>
                      <a:pt x="6052503" y="9924"/>
                      <a:pt x="6054679" y="15178"/>
                      <a:pt x="6054679" y="20656"/>
                    </a:cubicBezTo>
                    <a:lnTo>
                      <a:pt x="6054679" y="285672"/>
                    </a:lnTo>
                    <a:cubicBezTo>
                      <a:pt x="6054679" y="297080"/>
                      <a:pt x="6045431" y="306328"/>
                      <a:pt x="6034023" y="306328"/>
                    </a:cubicBezTo>
                    <a:lnTo>
                      <a:pt x="20656" y="306328"/>
                    </a:lnTo>
                    <a:cubicBezTo>
                      <a:pt x="9248" y="306328"/>
                      <a:pt x="0" y="297080"/>
                      <a:pt x="0" y="285672"/>
                    </a:cubicBezTo>
                    <a:lnTo>
                      <a:pt x="0" y="20656"/>
                    </a:lnTo>
                    <a:cubicBezTo>
                      <a:pt x="0" y="9248"/>
                      <a:pt x="9248" y="0"/>
                      <a:pt x="20656" y="0"/>
                    </a:cubicBezTo>
                    <a:close/>
                  </a:path>
                </a:pathLst>
              </a:custGeom>
              <a:solidFill>
                <a:srgbClr val="E9E6DC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152400"/>
                <a:ext cx="6054679" cy="4587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0641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5349495" y="183259"/>
              <a:ext cx="23120749" cy="1009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39"/>
                </a:lnSpc>
                <a:spcBef>
                  <a:spcPct val="0"/>
                </a:spcBef>
              </a:pPr>
              <a:r>
                <a:rPr lang="en-US" sz="4599">
                  <a:solidFill>
                    <a:srgbClr val="000000"/>
                  </a:solidFill>
                  <a:latin typeface="Yeseva One"/>
                  <a:ea typeface="Yeseva One"/>
                  <a:cs typeface="Yeseva One"/>
                  <a:sym typeface="Yeseva One"/>
                </a:rPr>
                <a:t>KPR Institute Of Engineering And Technology, Coimbatore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 rot="-5400000">
              <a:off x="1924342" y="-1676691"/>
              <a:ext cx="1271183" cy="4815066"/>
              <a:chOff x="0" y="0"/>
              <a:chExt cx="85343" cy="32326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5343" cy="323267"/>
              </a:xfrm>
              <a:custGeom>
                <a:avLst/>
                <a:gdLst/>
                <a:ahLst/>
                <a:cxnLst/>
                <a:rect l="l" t="t" r="r" b="b"/>
                <a:pathLst>
                  <a:path w="85343" h="323267">
                    <a:moveTo>
                      <a:pt x="42671" y="0"/>
                    </a:moveTo>
                    <a:lnTo>
                      <a:pt x="42671" y="0"/>
                    </a:lnTo>
                    <a:cubicBezTo>
                      <a:pt x="66238" y="0"/>
                      <a:pt x="85343" y="19105"/>
                      <a:pt x="85343" y="42671"/>
                    </a:cubicBezTo>
                    <a:lnTo>
                      <a:pt x="85343" y="280596"/>
                    </a:lnTo>
                    <a:cubicBezTo>
                      <a:pt x="85343" y="291913"/>
                      <a:pt x="80847" y="302767"/>
                      <a:pt x="72845" y="310769"/>
                    </a:cubicBezTo>
                    <a:cubicBezTo>
                      <a:pt x="64842" y="318772"/>
                      <a:pt x="53989" y="323267"/>
                      <a:pt x="42671" y="323267"/>
                    </a:cubicBezTo>
                    <a:lnTo>
                      <a:pt x="42671" y="323267"/>
                    </a:lnTo>
                    <a:cubicBezTo>
                      <a:pt x="31354" y="323267"/>
                      <a:pt x="20501" y="318772"/>
                      <a:pt x="12498" y="310769"/>
                    </a:cubicBezTo>
                    <a:cubicBezTo>
                      <a:pt x="4496" y="302767"/>
                      <a:pt x="0" y="291913"/>
                      <a:pt x="0" y="280596"/>
                    </a:cubicBezTo>
                    <a:lnTo>
                      <a:pt x="0" y="42671"/>
                    </a:lnTo>
                    <a:cubicBezTo>
                      <a:pt x="0" y="31354"/>
                      <a:pt x="4496" y="20501"/>
                      <a:pt x="12498" y="12498"/>
                    </a:cubicBezTo>
                    <a:cubicBezTo>
                      <a:pt x="20501" y="4496"/>
                      <a:pt x="31354" y="0"/>
                      <a:pt x="42671" y="0"/>
                    </a:cubicBezTo>
                    <a:close/>
                  </a:path>
                </a:pathLst>
              </a:custGeom>
              <a:solidFill>
                <a:srgbClr val="87AD51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152400"/>
                <a:ext cx="85343" cy="4756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0221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1140531" y="183259"/>
              <a:ext cx="3549535" cy="100944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439"/>
                </a:lnSpc>
                <a:spcBef>
                  <a:spcPct val="0"/>
                </a:spcBef>
              </a:pPr>
              <a:r>
                <a:rPr lang="en-US" sz="4599" dirty="0">
                  <a:solidFill>
                    <a:srgbClr val="000000"/>
                  </a:solidFill>
                  <a:latin typeface="Yeseva One"/>
                  <a:ea typeface="Yeseva One"/>
                  <a:cs typeface="Yeseva One"/>
                  <a:sym typeface="Yeseva One"/>
                </a:rPr>
                <a:t>College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92027" y="6563046"/>
            <a:ext cx="15412831" cy="7967156"/>
            <a:chOff x="0" y="0"/>
            <a:chExt cx="20550441" cy="10622875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20550441" cy="10622875"/>
              <a:chOff x="0" y="0"/>
              <a:chExt cx="683339" cy="35323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683339" cy="353230"/>
              </a:xfrm>
              <a:custGeom>
                <a:avLst/>
                <a:gdLst/>
                <a:ahLst/>
                <a:cxnLst/>
                <a:rect l="l" t="t" r="r" b="b"/>
                <a:pathLst>
                  <a:path w="683339" h="353230">
                    <a:moveTo>
                      <a:pt x="35999" y="0"/>
                    </a:moveTo>
                    <a:lnTo>
                      <a:pt x="647340" y="0"/>
                    </a:lnTo>
                    <a:cubicBezTo>
                      <a:pt x="667222" y="0"/>
                      <a:pt x="683339" y="16117"/>
                      <a:pt x="683339" y="35999"/>
                    </a:cubicBezTo>
                    <a:lnTo>
                      <a:pt x="683339" y="317230"/>
                    </a:lnTo>
                    <a:cubicBezTo>
                      <a:pt x="683339" y="326778"/>
                      <a:pt x="679546" y="335934"/>
                      <a:pt x="672795" y="342686"/>
                    </a:cubicBezTo>
                    <a:cubicBezTo>
                      <a:pt x="666044" y="349437"/>
                      <a:pt x="656887" y="353230"/>
                      <a:pt x="647340" y="353230"/>
                    </a:cubicBezTo>
                    <a:lnTo>
                      <a:pt x="35999" y="353230"/>
                    </a:lnTo>
                    <a:cubicBezTo>
                      <a:pt x="26452" y="353230"/>
                      <a:pt x="17295" y="349437"/>
                      <a:pt x="10544" y="342686"/>
                    </a:cubicBezTo>
                    <a:cubicBezTo>
                      <a:pt x="3793" y="335934"/>
                      <a:pt x="0" y="326778"/>
                      <a:pt x="0" y="317230"/>
                    </a:cubicBezTo>
                    <a:lnTo>
                      <a:pt x="0" y="35999"/>
                    </a:lnTo>
                    <a:cubicBezTo>
                      <a:pt x="0" y="26452"/>
                      <a:pt x="3793" y="17295"/>
                      <a:pt x="10544" y="10544"/>
                    </a:cubicBezTo>
                    <a:cubicBezTo>
                      <a:pt x="17295" y="3793"/>
                      <a:pt x="26452" y="0"/>
                      <a:pt x="35999" y="0"/>
                    </a:cubicBezTo>
                    <a:close/>
                  </a:path>
                </a:pathLst>
              </a:custGeom>
              <a:solidFill>
                <a:srgbClr val="AFC673">
                  <a:alpha val="80000"/>
                </a:srgbClr>
              </a:solidFill>
              <a:ln w="66675" cap="rnd">
                <a:solidFill>
                  <a:srgbClr val="000000">
                    <a:alpha val="80000"/>
                  </a:srgbClr>
                </a:solidFill>
                <a:prstDash val="solid"/>
                <a:round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152400"/>
                <a:ext cx="683339" cy="505630"/>
              </a:xfrm>
              <a:prstGeom prst="rect">
                <a:avLst/>
              </a:prstGeom>
            </p:spPr>
            <p:txBody>
              <a:bodyPr lIns="42831" tIns="42831" rIns="42831" bIns="42831" rtlCol="0" anchor="ctr"/>
              <a:lstStyle/>
              <a:p>
                <a:pPr algn="ctr">
                  <a:lnSpc>
                    <a:spcPts val="10221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43636" y="31761"/>
              <a:ext cx="5586363" cy="1116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99"/>
                </a:lnSpc>
                <a:spcBef>
                  <a:spcPct val="0"/>
                </a:spcBef>
              </a:pPr>
              <a:r>
                <a:rPr lang="en-US" sz="4999" dirty="0">
                  <a:solidFill>
                    <a:srgbClr val="000000">
                      <a:alpha val="80000"/>
                    </a:srgbClr>
                  </a:solidFill>
                  <a:latin typeface="Yeseva One"/>
                  <a:ea typeface="Yeseva One"/>
                  <a:cs typeface="Yeseva One"/>
                  <a:sym typeface="Yeseva One"/>
                </a:rPr>
                <a:t>ABSTRACT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92027" y="14847475"/>
            <a:ext cx="15570917" cy="8367115"/>
            <a:chOff x="0" y="0"/>
            <a:chExt cx="728770" cy="39160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28770" cy="391609"/>
            </a:xfrm>
            <a:custGeom>
              <a:avLst/>
              <a:gdLst/>
              <a:ahLst/>
              <a:cxnLst/>
              <a:rect l="l" t="t" r="r" b="b"/>
              <a:pathLst>
                <a:path w="728770" h="391609">
                  <a:moveTo>
                    <a:pt x="28745" y="0"/>
                  </a:moveTo>
                  <a:lnTo>
                    <a:pt x="700026" y="0"/>
                  </a:lnTo>
                  <a:cubicBezTo>
                    <a:pt x="707649" y="0"/>
                    <a:pt x="714960" y="3028"/>
                    <a:pt x="720351" y="8419"/>
                  </a:cubicBezTo>
                  <a:cubicBezTo>
                    <a:pt x="725742" y="13810"/>
                    <a:pt x="728770" y="21121"/>
                    <a:pt x="728770" y="28745"/>
                  </a:cubicBezTo>
                  <a:lnTo>
                    <a:pt x="728770" y="362864"/>
                  </a:lnTo>
                  <a:cubicBezTo>
                    <a:pt x="728770" y="378739"/>
                    <a:pt x="715901" y="391609"/>
                    <a:pt x="700026" y="391609"/>
                  </a:cubicBezTo>
                  <a:lnTo>
                    <a:pt x="28745" y="391609"/>
                  </a:lnTo>
                  <a:cubicBezTo>
                    <a:pt x="21121" y="391609"/>
                    <a:pt x="13810" y="388580"/>
                    <a:pt x="8419" y="383189"/>
                  </a:cubicBezTo>
                  <a:cubicBezTo>
                    <a:pt x="3028" y="377799"/>
                    <a:pt x="0" y="370487"/>
                    <a:pt x="0" y="362864"/>
                  </a:cubicBezTo>
                  <a:lnTo>
                    <a:pt x="0" y="28745"/>
                  </a:lnTo>
                  <a:cubicBezTo>
                    <a:pt x="0" y="21121"/>
                    <a:pt x="3028" y="13810"/>
                    <a:pt x="8419" y="8419"/>
                  </a:cubicBezTo>
                  <a:cubicBezTo>
                    <a:pt x="13810" y="3028"/>
                    <a:pt x="21121" y="0"/>
                    <a:pt x="28745" y="0"/>
                  </a:cubicBezTo>
                  <a:close/>
                </a:path>
              </a:pathLst>
            </a:custGeom>
            <a:solidFill>
              <a:srgbClr val="AFC673">
                <a:alpha val="80000"/>
              </a:srgbClr>
            </a:solidFill>
            <a:ln w="66675" cap="rnd">
              <a:solidFill>
                <a:srgbClr val="000000">
                  <a:alpha val="80000"/>
                </a:srgbClr>
              </a:solidFill>
              <a:prstDash val="solid"/>
              <a:round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85725"/>
              <a:ext cx="728770" cy="477334"/>
            </a:xfrm>
            <a:prstGeom prst="rect">
              <a:avLst/>
            </a:prstGeom>
          </p:spPr>
          <p:txBody>
            <a:bodyPr lIns="44908" tIns="44908" rIns="44908" bIns="44908" rtlCol="0" anchor="ctr"/>
            <a:lstStyle/>
            <a:p>
              <a:pPr algn="ctr">
                <a:lnSpc>
                  <a:spcPts val="5599"/>
                </a:lnSpc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292027" y="14898859"/>
            <a:ext cx="5418027" cy="836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4800" dirty="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OBJECTTIVES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413708" y="21654966"/>
            <a:ext cx="15449236" cy="19117659"/>
            <a:chOff x="122581" y="-2269998"/>
            <a:chExt cx="20598982" cy="25490211"/>
          </a:xfrm>
        </p:grpSpPr>
        <p:grpSp>
          <p:nvGrpSpPr>
            <p:cNvPr id="48" name="Group 48"/>
            <p:cNvGrpSpPr/>
            <p:nvPr/>
          </p:nvGrpSpPr>
          <p:grpSpPr>
            <a:xfrm>
              <a:off x="122581" y="-2269998"/>
              <a:ext cx="20598982" cy="25490211"/>
              <a:chOff x="0" y="-152400"/>
              <a:chExt cx="1382946" cy="1711327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382946" cy="1558927"/>
              </a:xfrm>
              <a:custGeom>
                <a:avLst/>
                <a:gdLst/>
                <a:ahLst/>
                <a:cxnLst/>
                <a:rect l="l" t="t" r="r" b="b"/>
                <a:pathLst>
                  <a:path w="1382946" h="1558927">
                    <a:moveTo>
                      <a:pt x="74667" y="0"/>
                    </a:moveTo>
                    <a:lnTo>
                      <a:pt x="1308279" y="0"/>
                    </a:lnTo>
                    <a:cubicBezTo>
                      <a:pt x="1328082" y="0"/>
                      <a:pt x="1347074" y="7867"/>
                      <a:pt x="1361077" y="21869"/>
                    </a:cubicBezTo>
                    <a:cubicBezTo>
                      <a:pt x="1375079" y="35872"/>
                      <a:pt x="1382946" y="54864"/>
                      <a:pt x="1382946" y="74667"/>
                    </a:cubicBezTo>
                    <a:lnTo>
                      <a:pt x="1382946" y="1484260"/>
                    </a:lnTo>
                    <a:cubicBezTo>
                      <a:pt x="1382946" y="1504063"/>
                      <a:pt x="1375079" y="1523055"/>
                      <a:pt x="1361077" y="1537057"/>
                    </a:cubicBezTo>
                    <a:cubicBezTo>
                      <a:pt x="1347074" y="1551060"/>
                      <a:pt x="1328082" y="1558927"/>
                      <a:pt x="1308279" y="1558927"/>
                    </a:cubicBezTo>
                    <a:lnTo>
                      <a:pt x="74667" y="1558927"/>
                    </a:lnTo>
                    <a:cubicBezTo>
                      <a:pt x="54864" y="1558927"/>
                      <a:pt x="35872" y="1551060"/>
                      <a:pt x="21869" y="1537057"/>
                    </a:cubicBezTo>
                    <a:cubicBezTo>
                      <a:pt x="7867" y="1523055"/>
                      <a:pt x="0" y="1504063"/>
                      <a:pt x="0" y="1484260"/>
                    </a:cubicBezTo>
                    <a:lnTo>
                      <a:pt x="0" y="74667"/>
                    </a:lnTo>
                    <a:cubicBezTo>
                      <a:pt x="0" y="54864"/>
                      <a:pt x="7867" y="35872"/>
                      <a:pt x="21869" y="21869"/>
                    </a:cubicBezTo>
                    <a:cubicBezTo>
                      <a:pt x="35872" y="7867"/>
                      <a:pt x="54864" y="0"/>
                      <a:pt x="74667" y="0"/>
                    </a:cubicBezTo>
                    <a:close/>
                  </a:path>
                </a:pathLst>
              </a:custGeom>
              <a:solidFill>
                <a:srgbClr val="AFC673">
                  <a:alpha val="76863"/>
                </a:srgbClr>
              </a:solidFill>
              <a:ln w="66675" cap="rnd">
                <a:solidFill>
                  <a:srgbClr val="000000">
                    <a:alpha val="76863"/>
                  </a:srgbClr>
                </a:solidFill>
                <a:prstDash val="solid"/>
                <a:round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-152400"/>
                <a:ext cx="1382946" cy="17113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0221"/>
                  </a:lnSpc>
                </a:pPr>
                <a:endParaRPr/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988721" y="501143"/>
              <a:ext cx="5017067" cy="11495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12"/>
                </a:lnSpc>
                <a:spcBef>
                  <a:spcPct val="0"/>
                </a:spcBef>
              </a:pPr>
              <a:r>
                <a:rPr lang="en-US" sz="5151">
                  <a:solidFill>
                    <a:srgbClr val="000000"/>
                  </a:solidFill>
                  <a:latin typeface="Yeseva One"/>
                  <a:ea typeface="Yeseva One"/>
                  <a:cs typeface="Yeseva One"/>
                  <a:sym typeface="Yeseva One"/>
                </a:rPr>
                <a:t>FEATURES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2460" y="2125574"/>
              <a:ext cx="19911102" cy="90686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71500" indent="-571500">
                <a:buFont typeface="Wingdings" panose="05000000000000000000" pitchFamily="2" charset="2"/>
                <a:buChar char="v"/>
              </a:pPr>
              <a:r>
                <a:rPr lang="en-IN" sz="4400" dirty="0">
                  <a:latin typeface="Canva Sans" panose="020B0604020202020204" charset="0"/>
                </a:rPr>
                <a:t>Spoilage &amp; Forced Ripening Detection – Detects early spoilage and abnormal ripening using gas sensing.</a:t>
              </a:r>
            </a:p>
            <a:p>
              <a:pPr marL="571500" indent="-571500">
                <a:buFont typeface="Wingdings" panose="05000000000000000000" pitchFamily="2" charset="2"/>
                <a:buChar char="v"/>
              </a:pPr>
              <a:r>
                <a:rPr lang="en-IN" sz="4400" dirty="0">
                  <a:latin typeface="Canva Sans" panose="020B0604020202020204" charset="0"/>
                </a:rPr>
                <a:t>Interactive Real-Time Monitoring – Live tracking of temperature, humidity, and gas levels and interact with user </a:t>
              </a:r>
            </a:p>
            <a:p>
              <a:pPr marL="571500" indent="-571500">
                <a:buFont typeface="Wingdings" panose="05000000000000000000" pitchFamily="2" charset="2"/>
                <a:buChar char="v"/>
              </a:pPr>
              <a:r>
                <a:rPr lang="en-IN" sz="4400" dirty="0">
                  <a:latin typeface="Canva Sans" panose="020B0604020202020204" charset="0"/>
                </a:rPr>
                <a:t>Instant App &amp; Hardware Alerts – Sends alerts to through mobile app and provides on-device warning.</a:t>
              </a:r>
            </a:p>
            <a:p>
              <a:pPr marL="571500" indent="-571500">
                <a:buFont typeface="Wingdings" panose="05000000000000000000" pitchFamily="2" charset="2"/>
                <a:buChar char="v"/>
              </a:pPr>
              <a:r>
                <a:rPr lang="en-IN" sz="4400" dirty="0">
                  <a:latin typeface="Canva Sans" panose="020B0604020202020204" charset="0"/>
                </a:rPr>
                <a:t>Portable Retrofit Device – Easily attachable to existing storage and transport tray boxes.</a:t>
              </a:r>
            </a:p>
            <a:p>
              <a:pPr marL="913676" lvl="1" indent="-456838" algn="l">
                <a:lnSpc>
                  <a:spcPts val="5924"/>
                </a:lnSpc>
                <a:buFont typeface="Arial"/>
                <a:buChar char="•"/>
              </a:pPr>
              <a:endParaRPr lang="en-US" sz="423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5092" y="10632569"/>
              <a:ext cx="8182638" cy="11495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12"/>
                </a:lnSpc>
                <a:spcBef>
                  <a:spcPct val="0"/>
                </a:spcBef>
              </a:pPr>
              <a:r>
                <a:rPr lang="en-US" sz="5151" dirty="0">
                  <a:solidFill>
                    <a:srgbClr val="000000"/>
                  </a:solidFill>
                  <a:latin typeface="Yeseva One"/>
                  <a:ea typeface="Yeseva One"/>
                  <a:cs typeface="Yeseva One"/>
                  <a:sym typeface="Yeseva One"/>
                </a:rPr>
                <a:t>TARGETED USERS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03669" y="11901919"/>
              <a:ext cx="19911101" cy="10842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88608" lvl="1" indent="-444304" algn="l">
                <a:lnSpc>
                  <a:spcPts val="5762"/>
                </a:lnSpc>
                <a:buFont typeface="Arial"/>
                <a:buChar char="•"/>
              </a:pPr>
              <a:r>
                <a:rPr lang="en-US" sz="4115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Wholesalers ,mandi owners  – for monitoring produce quality during </a:t>
              </a:r>
            </a:p>
            <a:p>
              <a:pPr algn="l">
                <a:lnSpc>
                  <a:spcPts val="5762"/>
                </a:lnSpc>
              </a:pPr>
              <a:r>
                <a:rPr lang="en-US" sz="4115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supply.</a:t>
              </a:r>
            </a:p>
            <a:p>
              <a:pPr marL="888608" lvl="1" indent="-444304" algn="l">
                <a:lnSpc>
                  <a:spcPts val="5762"/>
                </a:lnSpc>
                <a:buFont typeface="Arial"/>
                <a:buChar char="•"/>
              </a:pPr>
              <a:r>
                <a:rPr lang="en-US" sz="4115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Logistics &amp; Transport Providers – to track conditions during transit</a:t>
              </a:r>
            </a:p>
            <a:p>
              <a:pPr marL="888608" lvl="1" indent="-444304">
                <a:lnSpc>
                  <a:spcPts val="5762"/>
                </a:lnSpc>
                <a:buFont typeface="Arial"/>
                <a:buChar char="•"/>
              </a:pPr>
              <a:r>
                <a:rPr lang="en-US" sz="4115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Hotels &amp; College Messes – to ensure fresh produce for food preparation</a:t>
              </a:r>
            </a:p>
            <a:p>
              <a:pPr marL="888608" lvl="1" indent="-444304" algn="l">
                <a:lnSpc>
                  <a:spcPts val="5762"/>
                </a:lnSpc>
                <a:buFont typeface="Arial"/>
                <a:buChar char="•"/>
              </a:pPr>
              <a:r>
                <a:rPr lang="en-US" sz="4115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Grocery Shop Owners – to reduce daily spoilage and wastage</a:t>
              </a:r>
            </a:p>
            <a:p>
              <a:pPr marL="888608" lvl="1" indent="-444304" algn="l">
                <a:lnSpc>
                  <a:spcPts val="5762"/>
                </a:lnSpc>
                <a:buFont typeface="Arial"/>
                <a:buChar char="•"/>
              </a:pPr>
              <a:r>
                <a:rPr lang="en-US" sz="4115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Hotels &amp; College Messes – to ensure fresh produce for food preparation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6387317" y="23357465"/>
            <a:ext cx="13547219" cy="17729485"/>
            <a:chOff x="0" y="0"/>
            <a:chExt cx="1180347" cy="154187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180347" cy="1541874"/>
            </a:xfrm>
            <a:custGeom>
              <a:avLst/>
              <a:gdLst/>
              <a:ahLst/>
              <a:cxnLst/>
              <a:rect l="l" t="t" r="r" b="b"/>
              <a:pathLst>
                <a:path w="1180347" h="1541874">
                  <a:moveTo>
                    <a:pt x="87483" y="0"/>
                  </a:moveTo>
                  <a:lnTo>
                    <a:pt x="1092864" y="0"/>
                  </a:lnTo>
                  <a:cubicBezTo>
                    <a:pt x="1141180" y="0"/>
                    <a:pt x="1180347" y="39167"/>
                    <a:pt x="1180347" y="87483"/>
                  </a:cubicBezTo>
                  <a:lnTo>
                    <a:pt x="1180347" y="1454391"/>
                  </a:lnTo>
                  <a:cubicBezTo>
                    <a:pt x="1180347" y="1477593"/>
                    <a:pt x="1171130" y="1499845"/>
                    <a:pt x="1154724" y="1516251"/>
                  </a:cubicBezTo>
                  <a:cubicBezTo>
                    <a:pt x="1138318" y="1532657"/>
                    <a:pt x="1116066" y="1541874"/>
                    <a:pt x="1092864" y="1541874"/>
                  </a:cubicBezTo>
                  <a:lnTo>
                    <a:pt x="87483" y="1541874"/>
                  </a:lnTo>
                  <a:cubicBezTo>
                    <a:pt x="39167" y="1541874"/>
                    <a:pt x="0" y="1502707"/>
                    <a:pt x="0" y="1454391"/>
                  </a:cubicBezTo>
                  <a:lnTo>
                    <a:pt x="0" y="87483"/>
                  </a:lnTo>
                  <a:cubicBezTo>
                    <a:pt x="0" y="64281"/>
                    <a:pt x="9217" y="42029"/>
                    <a:pt x="25623" y="25623"/>
                  </a:cubicBezTo>
                  <a:cubicBezTo>
                    <a:pt x="42029" y="9217"/>
                    <a:pt x="64281" y="0"/>
                    <a:pt x="87483" y="0"/>
                  </a:cubicBezTo>
                  <a:close/>
                </a:path>
              </a:pathLst>
            </a:custGeom>
            <a:solidFill>
              <a:srgbClr val="AFC673">
                <a:alpha val="80784"/>
              </a:srgbClr>
            </a:solidFill>
            <a:ln w="66675" cap="rnd">
              <a:solidFill>
                <a:srgbClr val="000000">
                  <a:alpha val="80784"/>
                </a:srgbClr>
              </a:solidFill>
              <a:prstDash val="solid"/>
              <a:round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0" y="-152400"/>
              <a:ext cx="1180347" cy="16942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221"/>
                </a:lnSpc>
              </a:pPr>
              <a:endParaRPr/>
            </a:p>
          </p:txBody>
        </p:sp>
      </p:grpSp>
      <p:sp>
        <p:nvSpPr>
          <p:cNvPr id="60" name="Freeform 60"/>
          <p:cNvSpPr/>
          <p:nvPr/>
        </p:nvSpPr>
        <p:spPr>
          <a:xfrm>
            <a:off x="19126040" y="6993525"/>
            <a:ext cx="4585336" cy="3348175"/>
          </a:xfrm>
          <a:custGeom>
            <a:avLst/>
            <a:gdLst/>
            <a:ahLst/>
            <a:cxnLst/>
            <a:rect l="l" t="t" r="r" b="b"/>
            <a:pathLst>
              <a:path w="6938091" h="5169994">
                <a:moveTo>
                  <a:pt x="0" y="0"/>
                </a:moveTo>
                <a:lnTo>
                  <a:pt x="6938091" y="0"/>
                </a:lnTo>
                <a:lnTo>
                  <a:pt x="6938091" y="5169994"/>
                </a:lnTo>
                <a:lnTo>
                  <a:pt x="0" y="51699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986" t="-10949" r="-20558" b="-15643"/>
            </a:stretch>
          </a:blipFill>
        </p:spPr>
      </p:sp>
      <p:sp>
        <p:nvSpPr>
          <p:cNvPr id="62" name="Freeform 62"/>
          <p:cNvSpPr/>
          <p:nvPr/>
        </p:nvSpPr>
        <p:spPr>
          <a:xfrm>
            <a:off x="16268660" y="7026854"/>
            <a:ext cx="2941593" cy="3267003"/>
          </a:xfrm>
          <a:custGeom>
            <a:avLst/>
            <a:gdLst/>
            <a:ahLst/>
            <a:cxnLst/>
            <a:rect l="l" t="t" r="r" b="b"/>
            <a:pathLst>
              <a:path w="4778128" h="5387692">
                <a:moveTo>
                  <a:pt x="0" y="0"/>
                </a:moveTo>
                <a:lnTo>
                  <a:pt x="4778128" y="0"/>
                </a:lnTo>
                <a:lnTo>
                  <a:pt x="4778128" y="5387692"/>
                </a:lnTo>
                <a:lnTo>
                  <a:pt x="0" y="5387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146" t="-46207" r="-34007" b="-31345"/>
            </a:stretch>
          </a:blipFill>
        </p:spPr>
      </p:sp>
      <p:grpSp>
        <p:nvGrpSpPr>
          <p:cNvPr id="91" name="Group 91"/>
          <p:cNvGrpSpPr/>
          <p:nvPr/>
        </p:nvGrpSpPr>
        <p:grpSpPr>
          <a:xfrm>
            <a:off x="16721506" y="29710732"/>
            <a:ext cx="7851654" cy="4167167"/>
            <a:chOff x="0" y="0"/>
            <a:chExt cx="14219657" cy="8704077"/>
          </a:xfrm>
        </p:grpSpPr>
        <p:grpSp>
          <p:nvGrpSpPr>
            <p:cNvPr id="92" name="Group 92"/>
            <p:cNvGrpSpPr>
              <a:grpSpLocks noChangeAspect="1"/>
            </p:cNvGrpSpPr>
            <p:nvPr/>
          </p:nvGrpSpPr>
          <p:grpSpPr>
            <a:xfrm>
              <a:off x="0" y="0"/>
              <a:ext cx="4398949" cy="8704077"/>
              <a:chOff x="0" y="0"/>
              <a:chExt cx="2620010" cy="5184140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l="l" t="t" r="r" b="b"/>
                <a:pathLst>
                  <a:path w="2513330" h="513207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4" name="Freeform 94"/>
              <p:cNvSpPr/>
              <p:nvPr/>
            </p:nvSpPr>
            <p:spPr>
              <a:xfrm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l="l" t="t" r="r" b="b"/>
                <a:pathLst>
                  <a:path w="2250453" h="4876800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t="-2142" b="-2142"/>
                </a:stretch>
              </a:blipFill>
            </p:spPr>
          </p:sp>
          <p:sp>
            <p:nvSpPr>
              <p:cNvPr id="95" name="Freeform 95"/>
              <p:cNvSpPr/>
              <p:nvPr/>
            </p:nvSpPr>
            <p:spPr>
              <a:xfrm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7980" h="431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555555"/>
              </a:solidFill>
            </p:spPr>
          </p:sp>
          <p:sp>
            <p:nvSpPr>
              <p:cNvPr id="96" name="Freeform 96"/>
              <p:cNvSpPr/>
              <p:nvPr/>
            </p:nvSpPr>
            <p:spPr>
              <a:xfrm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l="l" t="t" r="r" b="b"/>
                <a:pathLst>
                  <a:path w="63785" h="63501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555555"/>
              </a:solidFill>
            </p:spPr>
          </p:sp>
          <p:sp>
            <p:nvSpPr>
              <p:cNvPr id="97" name="Freeform 97"/>
              <p:cNvSpPr/>
              <p:nvPr/>
            </p:nvSpPr>
            <p:spPr>
              <a:xfrm>
                <a:off x="0" y="685800"/>
                <a:ext cx="2794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21336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id="98" name="Freeform 98"/>
              <p:cNvSpPr/>
              <p:nvPr/>
            </p:nvSpPr>
            <p:spPr>
              <a:xfrm>
                <a:off x="0" y="1057910"/>
                <a:ext cx="27940" cy="38481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481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id="99" name="Freeform 99"/>
              <p:cNvSpPr/>
              <p:nvPr/>
            </p:nvSpPr>
            <p:spPr>
              <a:xfrm>
                <a:off x="0" y="1526540"/>
                <a:ext cx="27940" cy="38608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608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61849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27940" y="0"/>
                <a:ext cx="2564130" cy="5182870"/>
              </a:xfrm>
              <a:custGeom>
                <a:avLst/>
                <a:gdLst/>
                <a:ahLst/>
                <a:cxnLst/>
                <a:rect l="l" t="t" r="r" b="b"/>
                <a:pathLst>
                  <a:path w="2564130" h="518287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555555"/>
              </a:solidFill>
            </p:spPr>
          </p:sp>
        </p:grpSp>
        <p:grpSp>
          <p:nvGrpSpPr>
            <p:cNvPr id="102" name="Group 102"/>
            <p:cNvGrpSpPr>
              <a:grpSpLocks noChangeAspect="1"/>
            </p:cNvGrpSpPr>
            <p:nvPr/>
          </p:nvGrpSpPr>
          <p:grpSpPr>
            <a:xfrm>
              <a:off x="9820708" y="0"/>
              <a:ext cx="4398949" cy="8704077"/>
              <a:chOff x="0" y="0"/>
              <a:chExt cx="2620010" cy="5184140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l="l" t="t" r="r" b="b"/>
                <a:pathLst>
                  <a:path w="2513330" h="513207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l="l" t="t" r="r" b="b"/>
                <a:pathLst>
                  <a:path w="2250453" h="4876800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t="-1559" b="-1559"/>
                </a:stretch>
              </a:blipFill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7980" h="431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555555"/>
              </a:solidFill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l="l" t="t" r="r" b="b"/>
                <a:pathLst>
                  <a:path w="63785" h="63501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555555"/>
              </a:solidFill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0" y="685800"/>
                <a:ext cx="2794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21336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0" y="1057910"/>
                <a:ext cx="27940" cy="38481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481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0" y="1526540"/>
                <a:ext cx="27940" cy="38608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608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61849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27940" y="0"/>
                <a:ext cx="2564130" cy="5182870"/>
              </a:xfrm>
              <a:custGeom>
                <a:avLst/>
                <a:gdLst/>
                <a:ahLst/>
                <a:cxnLst/>
                <a:rect l="l" t="t" r="r" b="b"/>
                <a:pathLst>
                  <a:path w="2564130" h="518287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555555"/>
              </a:solidFill>
            </p:spPr>
          </p:sp>
        </p:grpSp>
        <p:grpSp>
          <p:nvGrpSpPr>
            <p:cNvPr id="112" name="Group 112"/>
            <p:cNvGrpSpPr>
              <a:grpSpLocks noChangeAspect="1"/>
            </p:cNvGrpSpPr>
            <p:nvPr/>
          </p:nvGrpSpPr>
          <p:grpSpPr>
            <a:xfrm>
              <a:off x="4881731" y="0"/>
              <a:ext cx="4398949" cy="8704077"/>
              <a:chOff x="0" y="0"/>
              <a:chExt cx="2620010" cy="518414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l="l" t="t" r="r" b="b"/>
                <a:pathLst>
                  <a:path w="2513330" h="513207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l="l" t="t" r="r" b="b"/>
                <a:pathLst>
                  <a:path w="2250453" h="4876800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t="-1559" b="-1559"/>
                </a:stretch>
              </a:blipFill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7980" h="431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555555"/>
              </a:solidFill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l="l" t="t" r="r" b="b"/>
                <a:pathLst>
                  <a:path w="63785" h="63501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555555"/>
              </a:solidFill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0" y="685800"/>
                <a:ext cx="2794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21336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0" y="1057910"/>
                <a:ext cx="27940" cy="38481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481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id="119" name="Freeform 119"/>
              <p:cNvSpPr/>
              <p:nvPr/>
            </p:nvSpPr>
            <p:spPr>
              <a:xfrm>
                <a:off x="0" y="1526540"/>
                <a:ext cx="27940" cy="38608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608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id="120" name="Freeform 120"/>
              <p:cNvSpPr/>
              <p:nvPr/>
            </p:nvSpPr>
            <p:spPr>
              <a:xfrm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61849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id="121" name="Freeform 121"/>
              <p:cNvSpPr/>
              <p:nvPr/>
            </p:nvSpPr>
            <p:spPr>
              <a:xfrm>
                <a:off x="27940" y="0"/>
                <a:ext cx="2564130" cy="5182870"/>
              </a:xfrm>
              <a:custGeom>
                <a:avLst/>
                <a:gdLst/>
                <a:ahLst/>
                <a:cxnLst/>
                <a:rect l="l" t="t" r="r" b="b"/>
                <a:pathLst>
                  <a:path w="2564130" h="518287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555555"/>
              </a:solidFill>
            </p:spPr>
          </p:sp>
        </p:grpSp>
      </p:grpSp>
      <p:sp>
        <p:nvSpPr>
          <p:cNvPr id="125" name="TextBox 125"/>
          <p:cNvSpPr txBox="1"/>
          <p:nvPr/>
        </p:nvSpPr>
        <p:spPr>
          <a:xfrm>
            <a:off x="16847527" y="34776992"/>
            <a:ext cx="13185953" cy="6759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SPROAC is a smart system designed to reduce post-harvest losses of fruits and vegetables by monitoring transport conditions and detecting spoilage. With App-scripts based data logging and app visualization, it enables timely decisions to extend shelf life and ripen fruits. It supports supply chain efficiency and contributes to </a:t>
            </a:r>
            <a:r>
              <a:rPr lang="en-US" sz="44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SDG-2 (Zero Hunger).</a:t>
            </a:r>
          </a:p>
          <a:p>
            <a:pPr algn="ctr">
              <a:lnSpc>
                <a:spcPts val="5880"/>
              </a:lnSpc>
              <a:spcBef>
                <a:spcPct val="0"/>
              </a:spcBef>
            </a:pPr>
            <a:endParaRPr lang="en-US" sz="4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27" name="TextBox 127"/>
          <p:cNvSpPr txBox="1"/>
          <p:nvPr/>
        </p:nvSpPr>
        <p:spPr>
          <a:xfrm>
            <a:off x="697743" y="7408344"/>
            <a:ext cx="14559399" cy="7134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4000" dirty="0">
                <a:latin typeface="Canva Sans" panose="020B0604020202020204" charset="0"/>
                <a:cs typeface="Arial" panose="020B0604020202020204" pitchFamily="34" charset="0"/>
              </a:rPr>
              <a:t>I</a:t>
            </a:r>
            <a:r>
              <a:rPr lang="en-US" sz="4000" dirty="0">
                <a:latin typeface="Canva Sans" panose="020B0604020202020204" charset="0"/>
                <a:ea typeface="Tahoma" panose="020B0604030504040204" pitchFamily="34" charset="0"/>
                <a:cs typeface="Arial" panose="020B0604020202020204" pitchFamily="34" charset="0"/>
              </a:rPr>
              <a:t>ndia is one of the largest producers of vegetables globally, with an annual production of about 200–210 million metric </a:t>
            </a:r>
            <a:r>
              <a:rPr lang="en-US" sz="4000" dirty="0" err="1">
                <a:latin typeface="Canva Sans" panose="020B0604020202020204" charset="0"/>
                <a:ea typeface="Tahoma" panose="020B0604030504040204" pitchFamily="34" charset="0"/>
                <a:cs typeface="Arial" panose="020B0604020202020204" pitchFamily="34" charset="0"/>
              </a:rPr>
              <a:t>tonnes</a:t>
            </a:r>
            <a:r>
              <a:rPr lang="en-US" sz="4000" dirty="0">
                <a:latin typeface="Canva Sans" panose="020B0604020202020204" charset="0"/>
                <a:ea typeface="Tahoma" panose="020B0604030504040204" pitchFamily="34" charset="0"/>
                <a:cs typeface="Arial" panose="020B0604020202020204" pitchFamily="34" charset="0"/>
              </a:rPr>
              <a:t>. However, nearly 15%–25% of vegetables are lost during the post-harvest stage, resulting in approximately 30–50 million metric </a:t>
            </a:r>
            <a:r>
              <a:rPr lang="en-US" sz="4000" dirty="0" err="1">
                <a:latin typeface="Canva Sans" panose="020B0604020202020204" charset="0"/>
                <a:ea typeface="Tahoma" panose="020B0604030504040204" pitchFamily="34" charset="0"/>
                <a:cs typeface="Arial" panose="020B0604020202020204" pitchFamily="34" charset="0"/>
              </a:rPr>
              <a:t>tonnes</a:t>
            </a:r>
            <a:r>
              <a:rPr lang="en-US" sz="4000" dirty="0">
                <a:latin typeface="Canva Sans" panose="020B0604020202020204" charset="0"/>
                <a:ea typeface="Tahoma" panose="020B0604030504040204" pitchFamily="34" charset="0"/>
                <a:cs typeface="Arial" panose="020B0604020202020204" pitchFamily="34" charset="0"/>
              </a:rPr>
              <a:t> of wastage each year. These losses are mainly due to poor storage infrastructure, lack of environmental monitoring, short shelf life, and inefficient transportation systems. our product focus on the </a:t>
            </a:r>
            <a:r>
              <a:rPr lang="en-US" sz="4000" dirty="0">
                <a:solidFill>
                  <a:srgbClr val="000000"/>
                </a:solidFill>
                <a:latin typeface="Canva Sans" panose="020B0604020202020204" charset="0"/>
                <a:ea typeface="Tahoma" panose="020B0604030504040204" pitchFamily="34" charset="0"/>
                <a:cs typeface="Arial" panose="020B0604020202020204" pitchFamily="34" charset="0"/>
                <a:sym typeface="Noto Sans"/>
              </a:rPr>
              <a:t>reduction of post harvest losses and it comes under SDG02 Zero Hunger.</a:t>
            </a:r>
            <a:endParaRPr lang="en-US" sz="3999" dirty="0">
              <a:solidFill>
                <a:srgbClr val="000000"/>
              </a:solidFill>
              <a:latin typeface="Canva Sans" panose="020B0604020202020204" charset="0"/>
              <a:ea typeface="Tahoma" panose="020B0604030504040204" pitchFamily="34" charset="0"/>
              <a:cs typeface="Arial" panose="020B0604020202020204" pitchFamily="34" charset="0"/>
              <a:sym typeface="Noto Sans"/>
            </a:endParaRPr>
          </a:p>
        </p:txBody>
      </p:sp>
      <p:sp>
        <p:nvSpPr>
          <p:cNvPr id="128" name="TextBox 128"/>
          <p:cNvSpPr txBox="1"/>
          <p:nvPr/>
        </p:nvSpPr>
        <p:spPr>
          <a:xfrm>
            <a:off x="292027" y="15749991"/>
            <a:ext cx="15638693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latin typeface="Canva Sans" panose="020B0604020202020204" charset="0"/>
              </a:rPr>
              <a:t>To detect spoilage in stored onions and vegetables using gas and  provide timely alerts to prevent quality degradation.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latin typeface="Canva Sans" panose="020B0604020202020204" charset="0"/>
              </a:rPr>
              <a:t>To develop an interactive device interface that allows users to easily monitor storage conditions.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latin typeface="Canva Sans" panose="020B0604020202020204" charset="0"/>
              </a:rPr>
              <a:t>To identify issues related to artificial/forced ripening of fruits by abnormal gas concentrations and storage conditions.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latin typeface="Canva Sans" panose="020B0604020202020204" charset="0"/>
              </a:rPr>
              <a:t>To provide real-time alerts to mandi owners ,farmers, transporter for quick action and reduced spoilage.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latin typeface="Canva Sans" panose="020B0604020202020204" charset="0"/>
              </a:rPr>
              <a:t>To design a portable retrofit device that can be easily installed in existing tray boxes, storage units, and transport containers.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6011796" y="606473"/>
            <a:ext cx="21772857" cy="127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19"/>
              </a:lnSpc>
              <a:spcBef>
                <a:spcPct val="0"/>
              </a:spcBef>
            </a:pPr>
            <a:r>
              <a:rPr lang="en-US" sz="7799" dirty="0">
                <a:solidFill>
                  <a:srgbClr val="233D00"/>
                </a:solidFill>
                <a:latin typeface="Lilita One"/>
                <a:ea typeface="Lilita One"/>
                <a:cs typeface="Lilita One"/>
                <a:sym typeface="Lilita One"/>
              </a:rPr>
              <a:t>SHELF-LIFE PREVENTION OF ALL VEG CONSUMED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16869714" y="6173988"/>
            <a:ext cx="2339658" cy="82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800" dirty="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Design 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6545564" y="33967618"/>
            <a:ext cx="4700782" cy="846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  <a:spcBef>
                <a:spcPct val="0"/>
              </a:spcBef>
            </a:pPr>
            <a:r>
              <a:rPr lang="en-US" sz="4800" dirty="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CONCLUSION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16507922" y="23464448"/>
            <a:ext cx="4700782" cy="8571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  <a:spcBef>
                <a:spcPct val="0"/>
              </a:spcBef>
            </a:pPr>
            <a:r>
              <a:rPr lang="en-US" sz="5151" dirty="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WEB APP UI</a:t>
            </a:r>
          </a:p>
        </p:txBody>
      </p:sp>
      <p:pic>
        <p:nvPicPr>
          <p:cNvPr id="146" name="Picture 145">
            <a:extLst>
              <a:ext uri="{FF2B5EF4-FFF2-40B4-BE49-F238E27FC236}">
                <a16:creationId xmlns:a16="http://schemas.microsoft.com/office/drawing/2014/main" id="{AC114DCD-39B3-798E-EDC6-E83F090ABB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25992836" y="7103639"/>
            <a:ext cx="3348175" cy="3225878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86F17F57-452D-29E7-E0A2-E3DE3C849E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711376" y="6975841"/>
            <a:ext cx="2363314" cy="3422152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E35D795A-7BA5-41F2-6164-65F40458AF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293693" y="10310232"/>
            <a:ext cx="12943426" cy="5586490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2B099322-487C-E775-E3B1-942FDAFA47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353548" y="15521035"/>
            <a:ext cx="13012275" cy="6922863"/>
          </a:xfrm>
          <a:prstGeom prst="rect">
            <a:avLst/>
          </a:prstGeom>
        </p:spPr>
      </p:pic>
      <p:pic>
        <p:nvPicPr>
          <p:cNvPr id="155" name="Picture 154">
            <a:extLst>
              <a:ext uri="{FF2B5EF4-FFF2-40B4-BE49-F238E27FC236}">
                <a16:creationId xmlns:a16="http://schemas.microsoft.com/office/drawing/2014/main" id="{53B2548B-4314-B921-8647-4D15CEAF792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1925" y="10936"/>
            <a:ext cx="3875885" cy="2583923"/>
          </a:xfrm>
          <a:prstGeom prst="rect">
            <a:avLst/>
          </a:prstGeom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B9F3846A-5049-CB90-C071-7C60D6E29B7F}"/>
              </a:ext>
            </a:extLst>
          </p:cNvPr>
          <p:cNvSpPr txBox="1"/>
          <p:nvPr/>
        </p:nvSpPr>
        <p:spPr>
          <a:xfrm>
            <a:off x="13116631" y="-245921"/>
            <a:ext cx="4281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dirty="0">
                <a:latin typeface="Bahnschrift" panose="020B0502040204020203" pitchFamily="34" charset="0"/>
              </a:rPr>
              <a:t>SPROAC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E786F9C-63D5-F8ED-267D-E10B49A9688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595283" y="24346712"/>
            <a:ext cx="6662601" cy="378227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B8A64FCB-17CE-7308-29E2-4189361E429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465850" y="24321606"/>
            <a:ext cx="6214945" cy="38073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390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Canva Sans</vt:lpstr>
      <vt:lpstr>Calibri</vt:lpstr>
      <vt:lpstr>Wingdings</vt:lpstr>
      <vt:lpstr>Canva Sans Bold</vt:lpstr>
      <vt:lpstr>Bahnschrift</vt:lpstr>
      <vt:lpstr>Yeseva One</vt:lpstr>
      <vt:lpstr>Lilita One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SPORAC POSTER</dc:title>
  <dc:creator>Ashwin</dc:creator>
  <cp:lastModifiedBy>ashwinlauzer@gmail.com</cp:lastModifiedBy>
  <cp:revision>8</cp:revision>
  <dcterms:created xsi:type="dcterms:W3CDTF">2006-08-16T00:00:00Z</dcterms:created>
  <dcterms:modified xsi:type="dcterms:W3CDTF">2026-07-13T09:30:22Z</dcterms:modified>
  <dc:identifier>DAHBSgxnXoc</dc:identifier>
</cp:coreProperties>
</file>